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" y="0"/>
            <a:ext cx="82296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82296" cy="68580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56692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94A3B8"/>
                </a:solidFill>
                <a:latin typeface="Segoe UI"/>
              </a:rPr>
              <a:t>SPONSORED BY ASIA CHARITABLE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89611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22D3EE"/>
                </a:solidFill>
                <a:latin typeface="Segoe UI"/>
              </a:rPr>
              <a:t>SCHOOL OF COMPUTING</a:t>
            </a:r>
          </a:p>
        </p:txBody>
      </p:sp>
      <p:sp>
        <p:nvSpPr>
          <p:cNvPr id="7" name="Oval 6"/>
          <p:cNvSpPr/>
          <p:nvPr/>
        </p:nvSpPr>
        <p:spPr>
          <a:xfrm>
            <a:off x="5870448" y="1389888"/>
            <a:ext cx="64008" cy="6400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53328" y="1389888"/>
            <a:ext cx="64008" cy="64008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236208" y="1389888"/>
            <a:ext cx="64008" cy="64008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84831"/>
            <a:ext cx="1036015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200" b="1" i="0">
                <a:solidFill>
                  <a:srgbClr val="E2E8F0"/>
                </a:solidFill>
                <a:latin typeface="Segoe UI"/>
              </a:rPr>
              <a:t>SentinalIQ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30168" y="3401568"/>
            <a:ext cx="4937760" cy="530352"/>
          </a:xfrm>
          <a:prstGeom prst="roundRect">
            <a:avLst>
              <a:gd name="adj" fmla="val 50000"/>
            </a:avLst>
          </a:prstGeom>
          <a:noFill/>
          <a:ln w="1524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3401568"/>
            <a:ext cx="49377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 spc="200">
                <a:solidFill>
                  <a:srgbClr val="22D3EE"/>
                </a:solidFill>
                <a:latin typeface="Segoe UI"/>
              </a:rPr>
              <a:t>ENTERPRISE SIEM / SOC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24528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Segoe UI"/>
              </a:rPr>
              <a:t>Real-time Monitoring  ·  Incident Response  ·  Threat Intelligence  ·  AI Copilot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67528" y="4846320"/>
            <a:ext cx="1463040" cy="4572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6053328"/>
            <a:ext cx="10360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 spc="250">
                <a:solidFill>
                  <a:srgbClr val="94A3B8"/>
                </a:solidFill>
                <a:latin typeface="Segoe UI"/>
              </a:rPr>
              <a:t>TECH CAST ·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300">
                <a:solidFill>
                  <a:srgbClr val="22D3EE"/>
                </a:solidFill>
                <a:latin typeface="Segoe UI"/>
              </a:rPr>
              <a:t>PROJECT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Segoe UI"/>
              </a:rPr>
              <a:t>SentinalIQ — Enterprise SIEM / SOC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26464"/>
            <a:ext cx="1051560" cy="5029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94A3B8"/>
                </a:solidFill>
                <a:latin typeface="Segoe UI"/>
              </a:rPr>
              <a:t>A full-stack Security Information &amp; Event Management (SIEM) / Security Operations Center (SOC) platform built with React 19, TypeScript, Python FastAPI and SQLite — bringing dashboards, log exploration, incident management, endpoint &amp; WAF monitoring and threat intelligence into one real-time command center.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80360"/>
            <a:ext cx="2645587" cy="841248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2880360"/>
            <a:ext cx="54864" cy="8412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90088"/>
            <a:ext cx="22798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22D3EE"/>
                </a:solidFill>
                <a:latin typeface="Segoe UI"/>
              </a:rPr>
              <a:t>30+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55848"/>
            <a:ext cx="227982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REST API endpoints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95395" y="2880360"/>
            <a:ext cx="2645587" cy="841248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13683" y="2880360"/>
            <a:ext cx="54864" cy="841248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3995" y="2990088"/>
            <a:ext cx="22798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78BFA"/>
                </a:solidFill>
                <a:latin typeface="Segoe U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3995" y="3355848"/>
            <a:ext cx="227982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Security modules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50711" y="2880360"/>
            <a:ext cx="2645587" cy="841248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68999" y="2880360"/>
            <a:ext cx="54864" cy="841248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9311" y="2990088"/>
            <a:ext cx="22798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472B6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9311" y="3355848"/>
            <a:ext cx="227982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User roles · JWT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027" y="2880360"/>
            <a:ext cx="2645587" cy="841248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24315" y="2880360"/>
            <a:ext cx="54864" cy="84124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34627" y="2990088"/>
            <a:ext cx="227982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34D399"/>
                </a:solidFill>
                <a:latin typeface="Segoe UI"/>
              </a:rPr>
              <a:t>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4627" y="3355848"/>
            <a:ext cx="227982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Segoe UI"/>
              </a:rPr>
              <a:t>Real-time 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9502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94A3B8"/>
                </a:solidFill>
                <a:latin typeface="Segoe UI"/>
              </a:rPr>
              <a:t>KEY MODULES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315968"/>
            <a:ext cx="2631871" cy="457200"/>
          </a:xfrm>
          <a:prstGeom prst="roundRect">
            <a:avLst>
              <a:gd name="adj" fmla="val 50000"/>
            </a:avLst>
          </a:prstGeom>
          <a:solidFill>
            <a:srgbClr val="101A2E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04671" y="4498848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315968"/>
            <a:ext cx="217467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Segoe UI"/>
              </a:rPr>
              <a:t>Security Dashboard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99967" y="4315968"/>
            <a:ext cx="2631871" cy="457200"/>
          </a:xfrm>
          <a:prstGeom prst="roundRect">
            <a:avLst>
              <a:gd name="adj" fmla="val 50000"/>
            </a:avLst>
          </a:prstGeom>
          <a:solidFill>
            <a:srgbClr val="101A2E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564559" y="4498848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65727" y="4315968"/>
            <a:ext cx="217467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Segoe UI"/>
              </a:rPr>
              <a:t>Log Explorer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9855" y="4315968"/>
            <a:ext cx="2631871" cy="457200"/>
          </a:xfrm>
          <a:prstGeom prst="roundRect">
            <a:avLst>
              <a:gd name="adj" fmla="val 50000"/>
            </a:avLst>
          </a:prstGeom>
          <a:solidFill>
            <a:srgbClr val="101A2E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4447" y="4498848"/>
            <a:ext cx="91440" cy="9144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25615" y="4315968"/>
            <a:ext cx="217467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Segoe UI"/>
              </a:rPr>
              <a:t>Incident Management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19743" y="4315968"/>
            <a:ext cx="2631871" cy="457200"/>
          </a:xfrm>
          <a:prstGeom prst="roundRect">
            <a:avLst>
              <a:gd name="adj" fmla="val 50000"/>
            </a:avLst>
          </a:prstGeom>
          <a:solidFill>
            <a:srgbClr val="101A2E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084335" y="4498848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85503" y="4315968"/>
            <a:ext cx="217467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Segoe UI"/>
              </a:rPr>
              <a:t>EDR / XDR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882896"/>
            <a:ext cx="2631871" cy="457200"/>
          </a:xfrm>
          <a:prstGeom prst="roundRect">
            <a:avLst>
              <a:gd name="adj" fmla="val 50000"/>
            </a:avLst>
          </a:prstGeom>
          <a:solidFill>
            <a:srgbClr val="101A2E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04671" y="5065776"/>
            <a:ext cx="91440" cy="9144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4882896"/>
            <a:ext cx="217467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Segoe UI"/>
              </a:rPr>
              <a:t>WAF Monitor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99967" y="4882896"/>
            <a:ext cx="2631871" cy="457200"/>
          </a:xfrm>
          <a:prstGeom prst="roundRect">
            <a:avLst>
              <a:gd name="adj" fmla="val 50000"/>
            </a:avLst>
          </a:prstGeom>
          <a:solidFill>
            <a:srgbClr val="101A2E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64559" y="5065776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65727" y="4882896"/>
            <a:ext cx="217467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Segoe UI"/>
              </a:rPr>
              <a:t>Threat Intelligence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59855" y="4882896"/>
            <a:ext cx="2631871" cy="457200"/>
          </a:xfrm>
          <a:prstGeom prst="roundRect">
            <a:avLst>
              <a:gd name="adj" fmla="val 50000"/>
            </a:avLst>
          </a:prstGeom>
          <a:solidFill>
            <a:srgbClr val="101A2E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24447" y="5065776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25615" y="4882896"/>
            <a:ext cx="217467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Segoe UI"/>
              </a:rPr>
              <a:t>Data Ingestion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919743" y="4882896"/>
            <a:ext cx="2631871" cy="457200"/>
          </a:xfrm>
          <a:prstGeom prst="roundRect">
            <a:avLst>
              <a:gd name="adj" fmla="val 50000"/>
            </a:avLst>
          </a:prstGeom>
          <a:solidFill>
            <a:srgbClr val="101A2E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084335" y="5065776"/>
            <a:ext cx="91440" cy="9144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85503" y="4882896"/>
            <a:ext cx="2174671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Segoe UI"/>
              </a:rPr>
              <a:t>AI Copilot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51967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SentinalIQ · Enterprise SIEM / SOC Platform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09960" y="6519672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300">
                <a:solidFill>
                  <a:srgbClr val="22D3EE"/>
                </a:solidFill>
                <a:latin typeface="Segoe UI"/>
              </a:rPr>
              <a:t>TEAM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Segoe UI"/>
              </a:rPr>
              <a:t>Meet the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26464"/>
            <a:ext cx="1051560" cy="5029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515258" cy="3246120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7512" y="1965960"/>
            <a:ext cx="3460394" cy="73152"/>
          </a:xfrm>
          <a:prstGeom prst="roundRect">
            <a:avLst>
              <a:gd name="adj" fmla="val 50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94789" y="2377440"/>
            <a:ext cx="1005840" cy="1005840"/>
          </a:xfrm>
          <a:prstGeom prst="ellipse">
            <a:avLst/>
          </a:prstGeom>
          <a:noFill/>
          <a:ln w="25400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94789" y="237744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472B6"/>
                </a:solidFill>
                <a:latin typeface="Segoe UI"/>
              </a:rPr>
              <a:t>N1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611880"/>
            <a:ext cx="31494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E2E8F0"/>
                </a:solidFill>
                <a:latin typeface="Segoe UI"/>
              </a:rPr>
              <a:t>Name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4069080"/>
            <a:ext cx="314949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94A3B8"/>
                </a:solidFill>
                <a:latin typeface="Segoe UI"/>
              </a:rPr>
              <a:t>Team Lead · Backend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8218" y="1965960"/>
            <a:ext cx="3515258" cy="3246120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65650" y="1965960"/>
            <a:ext cx="3460394" cy="7315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592927" y="2377440"/>
            <a:ext cx="1005840" cy="1005840"/>
          </a:xfrm>
          <a:prstGeom prst="ellipse">
            <a:avLst/>
          </a:prstGeom>
          <a:noFill/>
          <a:ln w="254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92927" y="237744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22D3EE"/>
                </a:solidFill>
                <a:latin typeface="Segoe UI"/>
              </a:rPr>
              <a:t>N2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1098" y="3611880"/>
            <a:ext cx="31494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E2E8F0"/>
                </a:solidFill>
                <a:latin typeface="Segoe UI"/>
              </a:rPr>
              <a:t>Name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1098" y="4069080"/>
            <a:ext cx="314949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94A3B8"/>
                </a:solidFill>
                <a:latin typeface="Segoe UI"/>
              </a:rPr>
              <a:t>Frontend Developer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6356" y="1965960"/>
            <a:ext cx="3515258" cy="3246120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63788" y="1965960"/>
            <a:ext cx="3460394" cy="73152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91066" y="2377440"/>
            <a:ext cx="1005840" cy="1005840"/>
          </a:xfrm>
          <a:prstGeom prst="ellipse">
            <a:avLst/>
          </a:prstGeom>
          <a:noFill/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1066" y="237744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A78BFA"/>
                </a:solidFill>
                <a:latin typeface="Segoe UI"/>
              </a:rPr>
              <a:t>N3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9236" y="3611880"/>
            <a:ext cx="31494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E2E8F0"/>
                </a:solidFill>
                <a:latin typeface="Segoe UI"/>
              </a:rPr>
              <a:t>Name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9236" y="4069080"/>
            <a:ext cx="314949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94A3B8"/>
                </a:solidFill>
                <a:latin typeface="Segoe UI"/>
              </a:rPr>
              <a:t>UI / Data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62356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Segoe UI"/>
              </a:rPr>
              <a:t>—  replace these placeholders with your team members  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51967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SentinalIQ · Enterprise SIEM / SOC Platform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19672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300">
                <a:solidFill>
                  <a:srgbClr val="22D3EE"/>
                </a:solidFill>
                <a:latin typeface="Segoe U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Segoe UI"/>
              </a:rPr>
              <a:t>What is SentinalIQ?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26464"/>
            <a:ext cx="1051560" cy="5029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55648"/>
            <a:ext cx="10911535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94A3B8"/>
                </a:solidFill>
                <a:latin typeface="Segoe UI"/>
              </a:rPr>
              <a:t>SentinalIQ is an Enterprise SIEM / SOC platform that gives security teams a single, real-time view of their environment — live dashboards, searchable logs, incident lifecycle management, endpoint &amp; web-application monitoring, and threat intelligence, all secured with JWT authentication.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26080"/>
            <a:ext cx="5346039" cy="3063240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67512" y="2926080"/>
            <a:ext cx="5291175" cy="7315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27248"/>
            <a:ext cx="4797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150">
                <a:solidFill>
                  <a:srgbClr val="22D3EE"/>
                </a:solidFill>
                <a:latin typeface="Segoe UI"/>
              </a:rPr>
              <a:t>WHY WAS THIS PROJECT CHOSEN?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479739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▸  </a:t>
            </a:r>
            <a:r>
              <a:rPr sz="1300" b="0">
                <a:solidFill>
                  <a:srgbClr val="E2E8F0"/>
                </a:solidFill>
                <a:latin typeface="Segoe UI"/>
              </a:rPr>
              <a:t>Cybersecurity is one of the fastest-growing fields — real-world relevance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▸  </a:t>
            </a:r>
            <a:r>
              <a:rPr sz="1300" b="0">
                <a:solidFill>
                  <a:srgbClr val="E2E8F0"/>
                </a:solidFill>
                <a:latin typeface="Segoe UI"/>
              </a:rPr>
              <a:t>Covers the full stack: React frontend, FastAPI backend &amp; real-time systems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▸  </a:t>
            </a:r>
            <a:r>
              <a:rPr sz="1300" b="0">
                <a:solidFill>
                  <a:srgbClr val="E2E8F0"/>
                </a:solidFill>
                <a:latin typeface="Segoe UI"/>
              </a:rPr>
              <a:t>Demonstrates core SOC concepts: SIEM, incident response, EDR, WAF, threat intel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22D3EE"/>
                </a:solidFill>
                <a:latin typeface="Segoe UI"/>
              </a:rPr>
              <a:t>▸  </a:t>
            </a:r>
            <a:r>
              <a:rPr sz="1300" b="0">
                <a:solidFill>
                  <a:srgbClr val="E2E8F0"/>
                </a:solidFill>
                <a:latin typeface="Segoe UI"/>
              </a:rPr>
              <a:t>Hands-on practice with JWT auth, WebSockets &amp; data visualization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5575" y="2926080"/>
            <a:ext cx="5346039" cy="3063240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33007" y="2926080"/>
            <a:ext cx="5291175" cy="73152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9895" y="3127248"/>
            <a:ext cx="479739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150">
                <a:solidFill>
                  <a:srgbClr val="A78BFA"/>
                </a:solidFill>
                <a:latin typeface="Segoe UI"/>
              </a:rPr>
              <a:t>BACKGROUND OF 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9895" y="3520440"/>
            <a:ext cx="479739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 </a:t>
            </a:r>
            <a:r>
              <a:rPr sz="1300" b="0">
                <a:solidFill>
                  <a:srgbClr val="E2E8F0"/>
                </a:solidFill>
                <a:latin typeface="Segoe UI"/>
              </a:rPr>
              <a:t>Organizations generate millions of security events every single day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 </a:t>
            </a:r>
            <a:r>
              <a:rPr sz="1300" b="0">
                <a:solidFill>
                  <a:srgbClr val="E2E8F0"/>
                </a:solidFill>
                <a:latin typeface="Segoe UI"/>
              </a:rPr>
              <a:t>Analysts need one unified view to detect and respond to threats fast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 </a:t>
            </a:r>
            <a:r>
              <a:rPr sz="1300" b="0">
                <a:solidFill>
                  <a:srgbClr val="E2E8F0"/>
                </a:solidFill>
                <a:latin typeface="Segoe UI"/>
              </a:rPr>
              <a:t>Traditional tools are fragmented, expensive and slow to react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A78BFA"/>
                </a:solidFill>
                <a:latin typeface="Segoe UI"/>
              </a:rPr>
              <a:t>▸  </a:t>
            </a:r>
            <a:r>
              <a:rPr sz="1300" b="0">
                <a:solidFill>
                  <a:srgbClr val="E2E8F0"/>
                </a:solidFill>
                <a:latin typeface="Segoe UI"/>
              </a:rPr>
              <a:t>A modern, web-based, real-time SOC dashboard is the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1967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SentinalIQ · Enterprise SIEM / SOC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519672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300">
                <a:solidFill>
                  <a:srgbClr val="F87171"/>
                </a:solidFill>
                <a:latin typeface="Segoe UI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Segoe UI"/>
              </a:rPr>
              <a:t>The Challenge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26464"/>
            <a:ext cx="1051560" cy="50292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1153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 b="1">
                <a:solidFill>
                  <a:srgbClr val="F87171"/>
                </a:solidFill>
                <a:latin typeface="Segoe UI"/>
              </a:rPr>
              <a:t>▸  </a:t>
            </a:r>
            <a:r>
              <a:rPr sz="1600" b="1">
                <a:solidFill>
                  <a:srgbClr val="E2E8F0"/>
                </a:solidFill>
                <a:latin typeface="Segoe UI"/>
              </a:rPr>
              <a:t>Security data is scattered</a:t>
            </a:r>
            <a:r>
              <a:rPr sz="1600">
                <a:solidFill>
                  <a:srgbClr val="94A3B8"/>
                </a:solidFill>
                <a:latin typeface="Segoe UI"/>
              </a:rPr>
              <a:t> across endpoints, networks and cloud tools — no single source of truth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 b="1">
                <a:solidFill>
                  <a:srgbClr val="F87171"/>
                </a:solidFill>
                <a:latin typeface="Segoe UI"/>
              </a:rPr>
              <a:t>▸  </a:t>
            </a:r>
            <a:r>
              <a:rPr sz="1600" b="1">
                <a:solidFill>
                  <a:srgbClr val="E2E8F0"/>
                </a:solidFill>
                <a:latin typeface="Segoe UI"/>
              </a:rPr>
              <a:t>Manual log analysis is slow</a:t>
            </a:r>
            <a:r>
              <a:rPr sz="1600">
                <a:solidFill>
                  <a:srgbClr val="94A3B8"/>
                </a:solidFill>
                <a:latin typeface="Segoe UI"/>
              </a:rPr>
              <a:t> and error-prone — it simply does not scale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 b="1">
                <a:solidFill>
                  <a:srgbClr val="F87171"/>
                </a:solidFill>
                <a:latin typeface="Segoe UI"/>
              </a:rPr>
              <a:t>▸  </a:t>
            </a:r>
            <a:r>
              <a:rPr sz="1600" b="1">
                <a:solidFill>
                  <a:srgbClr val="E2E8F0"/>
                </a:solidFill>
                <a:latin typeface="Segoe UI"/>
              </a:rPr>
              <a:t>Slow detection &amp; response</a:t>
            </a:r>
            <a:r>
              <a:rPr sz="1600">
                <a:solidFill>
                  <a:srgbClr val="94A3B8"/>
                </a:solidFill>
                <a:latin typeface="Segoe UI"/>
              </a:rPr>
              <a:t> leaves organizations exposed to breaches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 b="1">
                <a:solidFill>
                  <a:srgbClr val="F87171"/>
                </a:solidFill>
                <a:latin typeface="Segoe UI"/>
              </a:rPr>
              <a:t>▸  </a:t>
            </a:r>
            <a:r>
              <a:rPr sz="1600" b="1">
                <a:solidFill>
                  <a:srgbClr val="E2E8F0"/>
                </a:solidFill>
                <a:latin typeface="Segoe UI"/>
              </a:rPr>
              <a:t>Alert fatigue</a:t>
            </a:r>
            <a:r>
              <a:rPr sz="1600">
                <a:solidFill>
                  <a:srgbClr val="94A3B8"/>
                </a:solidFill>
                <a:latin typeface="Segoe UI"/>
              </a:rPr>
              <a:t> — disconnected point tools generate too many noisy alerts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 b="1">
                <a:solidFill>
                  <a:srgbClr val="F87171"/>
                </a:solidFill>
                <a:latin typeface="Segoe UI"/>
              </a:rPr>
              <a:t>▸  </a:t>
            </a:r>
            <a:r>
              <a:rPr sz="1600" b="1">
                <a:solidFill>
                  <a:srgbClr val="E2E8F0"/>
                </a:solidFill>
                <a:latin typeface="Segoe UI"/>
              </a:rPr>
              <a:t>Commercial SIEM platforms</a:t>
            </a:r>
            <a:r>
              <a:rPr sz="1600">
                <a:solidFill>
                  <a:srgbClr val="94A3B8"/>
                </a:solidFill>
                <a:latin typeface="Segoe UI"/>
              </a:rPr>
              <a:t> are expensive and complex for smaller teams</a:t>
            </a:r>
          </a:p>
          <a:p>
            <a:pPr>
              <a:lnSpc>
                <a:spcPct val="110000"/>
              </a:lnSpc>
              <a:spcAft>
                <a:spcPts val="1400"/>
              </a:spcAft>
            </a:pPr>
            <a:r>
              <a:rPr sz="1600" b="1">
                <a:solidFill>
                  <a:srgbClr val="F87171"/>
                </a:solidFill>
                <a:latin typeface="Segoe UI"/>
              </a:rPr>
              <a:t>▸  </a:t>
            </a:r>
            <a:r>
              <a:rPr sz="1600" b="1">
                <a:solidFill>
                  <a:srgbClr val="E2E8F0"/>
                </a:solidFill>
                <a:latin typeface="Segoe UI"/>
              </a:rPr>
              <a:t>No automated, real-time correlation</a:t>
            </a:r>
            <a:r>
              <a:rPr sz="1600">
                <a:solidFill>
                  <a:srgbClr val="94A3B8"/>
                </a:solidFill>
                <a:latin typeface="Segoe UI"/>
              </a:rPr>
              <a:t> of threats, endpoints and web traffic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1967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SentinalIQ · Enterprise SIEM / SOC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19672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300">
                <a:solidFill>
                  <a:srgbClr val="22D3EE"/>
                </a:solidFill>
                <a:latin typeface="Segoe UI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Segoe UI"/>
              </a:rPr>
              <a:t>What We Set Out to Achieve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26464"/>
            <a:ext cx="1051560" cy="5029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490874" cy="1874519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116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2D3EE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542032"/>
            <a:ext cx="29788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E2E8F0"/>
                </a:solidFill>
                <a:latin typeface="Segoe UI"/>
              </a:rPr>
              <a:t>Real-Time Visibility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926080"/>
            <a:ext cx="297881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4A3B8"/>
                </a:solidFill>
                <a:latin typeface="Segoe UI"/>
              </a:rPr>
              <a:t>Build a live security dashboard with real-time metrics, charts and an activity feed.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0410" y="1828800"/>
            <a:ext cx="3490874" cy="1874519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6442" y="20116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A78BFA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442" y="2542032"/>
            <a:ext cx="29788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E2E8F0"/>
                </a:solidFill>
                <a:latin typeface="Segoe UI"/>
              </a:rPr>
              <a:t>Centralized Logs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6442" y="2926080"/>
            <a:ext cx="297881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4A3B8"/>
                </a:solidFill>
                <a:latin typeface="Segoe UI"/>
              </a:rPr>
              <a:t>Aggregate security events from many sources into one searchable, filterable view.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0740" y="1828800"/>
            <a:ext cx="3490874" cy="1874519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6772" y="20116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472B6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6772" y="2542032"/>
            <a:ext cx="29788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E2E8F0"/>
                </a:solidFill>
                <a:latin typeface="Segoe UI"/>
              </a:rPr>
              <a:t>Automated Incident Lifecycle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6772" y="2926080"/>
            <a:ext cx="297881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4A3B8"/>
                </a:solidFill>
                <a:latin typeface="Segoe UI"/>
              </a:rPr>
              <a:t>Manage incidents end-to-end: open → investigating → resolved.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59352"/>
            <a:ext cx="3490874" cy="1874519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142232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34D399"/>
                </a:solidFill>
                <a:latin typeface="Segoe U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672584"/>
            <a:ext cx="29788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E2E8F0"/>
                </a:solidFill>
                <a:latin typeface="Segoe UI"/>
              </a:rPr>
              <a:t>Faster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056632"/>
            <a:ext cx="297881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4A3B8"/>
                </a:solidFill>
                <a:latin typeface="Segoe UI"/>
              </a:rPr>
              <a:t>Reduce detection-to-response time with instant alerts and notifications.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50410" y="3959352"/>
            <a:ext cx="3490874" cy="1874519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06442" y="4142232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BBF24"/>
                </a:solidFill>
                <a:latin typeface="Segoe U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6442" y="4672584"/>
            <a:ext cx="29788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E2E8F0"/>
                </a:solidFill>
                <a:latin typeface="Segoe UI"/>
              </a:rPr>
              <a:t>Secure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6442" y="5056632"/>
            <a:ext cx="297881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4A3B8"/>
                </a:solidFill>
                <a:latin typeface="Segoe UI"/>
              </a:rPr>
              <a:t>Role-based JWT authentication for admins, analysts and SOC leads.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0740" y="3959352"/>
            <a:ext cx="3490874" cy="1874519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16772" y="4142232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2D3EE"/>
                </a:solidFill>
                <a:latin typeface="Segoe U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6772" y="4672584"/>
            <a:ext cx="29788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E2E8F0"/>
                </a:solidFill>
                <a:latin typeface="Segoe UI"/>
              </a:rPr>
              <a:t>Actionable 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6772" y="5056632"/>
            <a:ext cx="297881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4A3B8"/>
                </a:solidFill>
                <a:latin typeface="Segoe UI"/>
              </a:rPr>
              <a:t>Track IOCs &amp; threat actors and surface analytics via dashboards.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51967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SentinalIQ · Enterprise SIEM / SOC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519672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300">
                <a:solidFill>
                  <a:srgbClr val="22D3EE"/>
                </a:solidFill>
                <a:latin typeface="Segoe UI"/>
              </a:rPr>
              <a:t>EXISTING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Segoe UI"/>
              </a:rPr>
              <a:t>Before SentinalIQ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26464"/>
            <a:ext cx="1051560" cy="5029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318607" cy="4023360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7512" y="1920240"/>
            <a:ext cx="5263743" cy="8229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7699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 spc="200">
                <a:solidFill>
                  <a:srgbClr val="22D3EE"/>
                </a:solidFill>
                <a:latin typeface="Segoe UI"/>
              </a:rPr>
              <a:t>EXISTING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76996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450" b="1">
                <a:solidFill>
                  <a:srgbClr val="22D3EE"/>
                </a:solidFill>
                <a:latin typeface="Segoe UI"/>
              </a:rPr>
              <a:t>▸  </a:t>
            </a:r>
            <a:r>
              <a:rPr sz="1450" b="0">
                <a:solidFill>
                  <a:srgbClr val="E2E8F0"/>
                </a:solidFill>
                <a:latin typeface="Segoe UI"/>
              </a:rPr>
              <a:t>Disconnected point tools &amp; manual record-keeping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450" b="1">
                <a:solidFill>
                  <a:srgbClr val="22D3EE"/>
                </a:solidFill>
                <a:latin typeface="Segoe UI"/>
              </a:rPr>
              <a:t>▸  </a:t>
            </a:r>
            <a:r>
              <a:rPr sz="1450" b="0">
                <a:solidFill>
                  <a:srgbClr val="E2E8F0"/>
                </a:solidFill>
                <a:latin typeface="Segoe UI"/>
              </a:rPr>
              <a:t>Paper / email-based incident reporting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450" b="1">
                <a:solidFill>
                  <a:srgbClr val="22D3EE"/>
                </a:solidFill>
                <a:latin typeface="Segoe UI"/>
              </a:rPr>
              <a:t>▸  </a:t>
            </a:r>
            <a:r>
              <a:rPr sz="1450" b="0">
                <a:solidFill>
                  <a:srgbClr val="E2E8F0"/>
                </a:solidFill>
                <a:latin typeface="Segoe UI"/>
              </a:rPr>
              <a:t>No online or remote accessibility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450" b="1">
                <a:solidFill>
                  <a:srgbClr val="22D3EE"/>
                </a:solidFill>
                <a:latin typeface="Segoe UI"/>
              </a:rPr>
              <a:t>▸  </a:t>
            </a:r>
            <a:r>
              <a:rPr sz="1450" b="0">
                <a:solidFill>
                  <a:srgbClr val="E2E8F0"/>
                </a:solidFill>
                <a:latin typeface="Segoe UI"/>
              </a:rPr>
              <a:t>Reactive response — threats found after the fact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450" b="1">
                <a:solidFill>
                  <a:srgbClr val="22D3EE"/>
                </a:solidFill>
                <a:latin typeface="Segoe UI"/>
              </a:rPr>
              <a:t>▸  </a:t>
            </a:r>
            <a:r>
              <a:rPr sz="1450" b="0">
                <a:solidFill>
                  <a:srgbClr val="E2E8F0"/>
                </a:solidFill>
                <a:latin typeface="Segoe UI"/>
              </a:rPr>
              <a:t>No central database for security events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920240"/>
            <a:ext cx="5318607" cy="4023360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0439" y="1920240"/>
            <a:ext cx="5263743" cy="82296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148840"/>
            <a:ext cx="47699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 spc="200">
                <a:solidFill>
                  <a:srgbClr val="F87171"/>
                </a:solidFill>
                <a:latin typeface="Segoe UI"/>
              </a:rP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7" y="2697480"/>
            <a:ext cx="476996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450" b="1">
                <a:solidFill>
                  <a:srgbClr val="F87171"/>
                </a:solidFill>
                <a:latin typeface="Segoe UI"/>
              </a:rPr>
              <a:t>▸  </a:t>
            </a:r>
            <a:r>
              <a:rPr sz="1450" b="0">
                <a:solidFill>
                  <a:srgbClr val="E2E8F0"/>
                </a:solidFill>
                <a:latin typeface="Segoe UI"/>
              </a:rPr>
              <a:t>Manual processes are time-consuming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450" b="1">
                <a:solidFill>
                  <a:srgbClr val="F87171"/>
                </a:solidFill>
                <a:latin typeface="Segoe UI"/>
              </a:rPr>
              <a:t>▸  </a:t>
            </a:r>
            <a:r>
              <a:rPr sz="1450" b="0">
                <a:solidFill>
                  <a:srgbClr val="E2E8F0"/>
                </a:solidFill>
                <a:latin typeface="Segoe UI"/>
              </a:rPr>
              <a:t>Data is not managed efficiently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450" b="1">
                <a:solidFill>
                  <a:srgbClr val="F87171"/>
                </a:solidFill>
                <a:latin typeface="Segoe UI"/>
              </a:rPr>
              <a:t>▸  </a:t>
            </a:r>
            <a:r>
              <a:rPr sz="1450" b="0">
                <a:solidFill>
                  <a:srgbClr val="E2E8F0"/>
                </a:solidFill>
                <a:latin typeface="Segoe UI"/>
              </a:rPr>
              <a:t>Lack of online accessibility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450" b="1">
                <a:solidFill>
                  <a:srgbClr val="F87171"/>
                </a:solidFill>
                <a:latin typeface="Segoe UI"/>
              </a:rPr>
              <a:t>▸  </a:t>
            </a:r>
            <a:r>
              <a:rPr sz="1450" b="0">
                <a:solidFill>
                  <a:srgbClr val="E2E8F0"/>
                </a:solidFill>
                <a:latin typeface="Segoe UI"/>
              </a:rPr>
              <a:t>High chances of human error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450" b="1">
                <a:solidFill>
                  <a:srgbClr val="F87171"/>
                </a:solidFill>
                <a:latin typeface="Segoe UI"/>
              </a:rPr>
              <a:t>▸  </a:t>
            </a:r>
            <a:r>
              <a:rPr sz="1450" b="0">
                <a:solidFill>
                  <a:srgbClr val="E2E8F0"/>
                </a:solidFill>
                <a:latin typeface="Segoe UI"/>
              </a:rPr>
              <a:t>No real-time visibility or alerting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1967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SentinalIQ · Enterprise SIEM / SOC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519672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300">
                <a:solidFill>
                  <a:srgbClr val="22D3EE"/>
                </a:solidFill>
                <a:latin typeface="Segoe UI"/>
              </a:rPr>
              <a:t>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Segoe UI"/>
              </a:rPr>
              <a:t>The 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26464"/>
            <a:ext cx="1051560" cy="5029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911535" cy="4480560"/>
          </a:xfrm>
          <a:prstGeom prst="roundRect">
            <a:avLst>
              <a:gd name="adj" fmla="val 4000"/>
            </a:avLst>
          </a:prstGeom>
          <a:solidFill>
            <a:srgbClr val="0F1524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65376"/>
            <a:ext cx="2560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150">
                <a:solidFill>
                  <a:srgbClr val="22D3EE"/>
                </a:solidFill>
                <a:latin typeface="Segoe UI"/>
              </a:rPr>
              <a:t>COMPONENT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865376"/>
            <a:ext cx="74368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150">
                <a:solidFill>
                  <a:srgbClr val="22D3EE"/>
                </a:solidFill>
                <a:latin typeface="Segoe UI"/>
              </a:rPr>
              <a:t>TECHNOLOGY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31136"/>
            <a:ext cx="10874959" cy="18288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446020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23774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2E8F0"/>
                </a:solidFill>
                <a:latin typeface="Segoe UI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240280"/>
            <a:ext cx="74825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React 19 · TypeScript · Vite · Recharts · Framer Motion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743200"/>
            <a:ext cx="10874959" cy="502920"/>
          </a:xfrm>
          <a:prstGeom prst="rect">
            <a:avLst/>
          </a:prstGeom>
          <a:solidFill>
            <a:srgbClr val="0D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948940"/>
            <a:ext cx="100584" cy="100584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743200"/>
            <a:ext cx="23774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2E8F0"/>
                </a:solidFill>
                <a:latin typeface="Segoe UI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743200"/>
            <a:ext cx="74825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Python · FastAPI (REST + WebSocket)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451860"/>
            <a:ext cx="100584" cy="100584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246120"/>
            <a:ext cx="23774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2E8F0"/>
                </a:solidFill>
                <a:latin typeface="Segoe UI"/>
              </a:rP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246120"/>
            <a:ext cx="74825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SQLite · SQLAlchemy 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749040"/>
            <a:ext cx="10874959" cy="502920"/>
          </a:xfrm>
          <a:prstGeom prst="rect">
            <a:avLst/>
          </a:prstGeom>
          <a:solidFill>
            <a:srgbClr val="0D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3954780"/>
            <a:ext cx="100584" cy="10058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3749040"/>
            <a:ext cx="23774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2E8F0"/>
                </a:solidFill>
                <a:latin typeface="Segoe UI"/>
              </a:rPr>
              <a:t>Authentication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3749040"/>
            <a:ext cx="74825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JWT · python-jose · passlib (bcrypt)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457700"/>
            <a:ext cx="100584" cy="10058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4251960"/>
            <a:ext cx="23774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2E8F0"/>
                </a:solidFill>
                <a:latin typeface="Segoe UI"/>
              </a:rPr>
              <a:t>Real-Time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251960"/>
            <a:ext cx="74825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Native WebSockets · uvicorn[standard]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754880"/>
            <a:ext cx="10874959" cy="502920"/>
          </a:xfrm>
          <a:prstGeom prst="rect">
            <a:avLst/>
          </a:prstGeom>
          <a:solidFill>
            <a:srgbClr val="0D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4400" y="4960620"/>
            <a:ext cx="100584" cy="10058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4754880"/>
            <a:ext cx="23774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2E8F0"/>
                </a:solidFill>
                <a:latin typeface="Segoe UI"/>
              </a:rPr>
              <a:t>UI / Styling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4754880"/>
            <a:ext cx="74825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Lucide React icons · CSS design-token system (dark &amp; light)</a:t>
            </a:r>
          </a:p>
        </p:txBody>
      </p:sp>
      <p:sp>
        <p:nvSpPr>
          <p:cNvPr id="30" name="Oval 29"/>
          <p:cNvSpPr/>
          <p:nvPr/>
        </p:nvSpPr>
        <p:spPr>
          <a:xfrm>
            <a:off x="914400" y="5463540"/>
            <a:ext cx="100584" cy="100584"/>
          </a:xfrm>
          <a:prstGeom prst="ellipse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5257800"/>
            <a:ext cx="23774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2E8F0"/>
                </a:solidFill>
                <a:latin typeface="Segoe UI"/>
              </a:rPr>
              <a:t>Server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5257800"/>
            <a:ext cx="74825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Uvicorn (ASGI)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760720"/>
            <a:ext cx="10874959" cy="502920"/>
          </a:xfrm>
          <a:prstGeom prst="rect">
            <a:avLst/>
          </a:prstGeom>
          <a:solidFill>
            <a:srgbClr val="0D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14400" y="5966460"/>
            <a:ext cx="100584" cy="100584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5760720"/>
            <a:ext cx="23774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E2E8F0"/>
                </a:solidFill>
                <a:latin typeface="Segoe UI"/>
              </a:rPr>
              <a:t>IDE / Tools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1920" y="5760720"/>
            <a:ext cx="74825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Segoe UI"/>
              </a:rPr>
              <a:t>VS Code · Git / GitHub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51967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SentinalIQ · Enterprise SIEM / SOC Platform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519672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300">
                <a:solidFill>
                  <a:srgbClr val="22D3EE"/>
                </a:solidFill>
                <a:latin typeface="Segoe UI"/>
              </a:rPr>
              <a:t>FLOW OF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Segoe UI"/>
              </a:rPr>
              <a:t>Architecture &amp; Data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26464"/>
            <a:ext cx="1051560" cy="5029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514600"/>
            <a:ext cx="1828800" cy="1051560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569464"/>
            <a:ext cx="45720" cy="941831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79192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E2E8F0"/>
                </a:solidFill>
                <a:latin typeface="Segoe UI"/>
              </a:rPr>
              <a:t>User / 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React SPA · HTTPS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05456" y="2907792"/>
            <a:ext cx="365760" cy="256032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89504" y="2514600"/>
            <a:ext cx="2240280" cy="1051560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07792" y="2569464"/>
            <a:ext cx="45720" cy="941831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6664" y="2679192"/>
            <a:ext cx="1965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E2E8F0"/>
                </a:solidFill>
                <a:latin typeface="Segoe UI"/>
              </a:rPr>
              <a:t>React 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6664" y="3017520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Vite · TypeScript · Recharts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166360" y="2907792"/>
            <a:ext cx="365760" cy="256032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550408" y="2514600"/>
            <a:ext cx="2514600" cy="1051560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68696" y="2569464"/>
            <a:ext cx="45720" cy="941831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87568" y="2679192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E2E8F0"/>
                </a:solidFill>
                <a:latin typeface="Segoe UI"/>
              </a:rPr>
              <a:t>FastAPI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87568" y="3017520"/>
            <a:ext cx="22402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REST API · WebSocket · JWT Auth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101583" y="2907792"/>
            <a:ext cx="365760" cy="256032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85632" y="2514600"/>
            <a:ext cx="2103120" cy="1051560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03919" y="2569464"/>
            <a:ext cx="45720" cy="941831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22792" y="2679192"/>
            <a:ext cx="18287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E2E8F0"/>
                </a:solidFill>
                <a:latin typeface="Segoe UI"/>
              </a:rPr>
              <a:t>SQLite 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22792" y="3017520"/>
            <a:ext cx="182879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94A3B8"/>
                </a:solidFill>
                <a:latin typeface="Segoe UI"/>
              </a:rPr>
              <a:t>SQLAlchemy ORM · Seeded data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03136" y="3566160"/>
            <a:ext cx="0" cy="1280160"/>
          </a:xfrm>
          <a:prstGeom prst="line">
            <a:avLst/>
          </a:prstGeom>
          <a:ln w="19050">
            <a:solidFill>
              <a:srgbClr val="22D3E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4005072" y="4846320"/>
            <a:ext cx="2798064" cy="0"/>
          </a:xfrm>
          <a:prstGeom prst="line">
            <a:avLst/>
          </a:prstGeom>
          <a:ln w="19050">
            <a:solidFill>
              <a:srgbClr val="22D3E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005072" y="3566160"/>
            <a:ext cx="0" cy="1280160"/>
          </a:xfrm>
          <a:prstGeom prst="line">
            <a:avLst/>
          </a:prstGeom>
          <a:ln w="19050">
            <a:solidFill>
              <a:srgbClr val="22D3EE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206240" y="4553712"/>
            <a:ext cx="3566160" cy="585216"/>
          </a:xfrm>
          <a:prstGeom prst="roundRect">
            <a:avLst>
              <a:gd name="adj" fmla="val 5000"/>
            </a:avLst>
          </a:prstGeom>
          <a:solidFill>
            <a:srgbClr val="0F1524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0" y="4553712"/>
            <a:ext cx="35661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2D3EE"/>
                </a:solidFill>
                <a:latin typeface="Segoe UI"/>
              </a:rPr>
              <a:t>WebSocket · Real-time alerts &amp; live updates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5778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94A3B8"/>
                </a:solidFill>
                <a:latin typeface="Segoe UI"/>
              </a:rPr>
              <a:t>The browser calls the FastAPI backend over REST; the backend persists to SQLite and streams real-time alerts &amp; events back to the UI over WebSockets.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967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SentinalIQ · Enterprise SIEM / SOC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519672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300">
                <a:solidFill>
                  <a:srgbClr val="22D3EE"/>
                </a:solidFill>
                <a:latin typeface="Segoe UI"/>
              </a:rPr>
              <a:t>MAIN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Segoe UI"/>
              </a:rPr>
              <a:t>Core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26464"/>
            <a:ext cx="1051560" cy="5029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539642" cy="4206240"/>
          </a:xfrm>
          <a:prstGeom prst="roundRect">
            <a:avLst>
              <a:gd name="adj" fmla="val 3500"/>
            </a:avLst>
          </a:prstGeom>
          <a:solidFill>
            <a:srgbClr val="0B1222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01368"/>
            <a:ext cx="3503066" cy="329184"/>
          </a:xfrm>
          <a:prstGeom prst="rect">
            <a:avLst/>
          </a:prstGeom>
          <a:solidFill>
            <a:srgbClr val="16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528" y="1920240"/>
            <a:ext cx="91440" cy="91440"/>
          </a:xfrm>
          <a:prstGeom prst="ellipse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28800"/>
            <a:ext cx="308244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onsolas"/>
              </a:rPr>
              <a:t>auth.py · JWT signing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240280"/>
            <a:ext cx="3210458" cy="36118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64748B"/>
                </a:solidFill>
                <a:latin typeface="Consolas"/>
              </a:rPr>
              <a:t># auth.py — JWT token creation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C792EA"/>
                </a:solidFill>
                <a:latin typeface="Consolas"/>
              </a:rPr>
              <a:t>def</a:t>
            </a:r>
            <a:r>
              <a:rPr sz="950">
                <a:solidFill>
                  <a:srgbClr val="67E8F9"/>
                </a:solidFill>
                <a:latin typeface="Consolas"/>
              </a:rPr>
              <a:t>create_access_token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data</a:t>
            </a:r>
            <a:r>
              <a:rPr sz="950">
                <a:solidFill>
                  <a:srgbClr val="E2E8F0"/>
                </a:solidFill>
                <a:latin typeface="Consolas"/>
              </a:rPr>
              <a:t>:</a:t>
            </a:r>
            <a:r>
              <a:rPr sz="950">
                <a:solidFill>
                  <a:srgbClr val="E2E8F0"/>
                </a:solidFill>
                <a:latin typeface="Consolas"/>
              </a:rPr>
              <a:t>dict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expires_delta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C792EA"/>
                </a:solidFill>
                <a:latin typeface="Consolas"/>
              </a:rPr>
              <a:t>None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  <a:r>
              <a:rPr sz="950">
                <a:solidFill>
                  <a:srgbClr val="E2E8F0"/>
                </a:solidFill>
                <a:latin typeface="Consolas"/>
              </a:rPr>
              <a:t>-</a:t>
            </a:r>
            <a:r>
              <a:rPr sz="950">
                <a:solidFill>
                  <a:srgbClr val="E2E8F0"/>
                </a:solidFill>
                <a:latin typeface="Consolas"/>
              </a:rPr>
              <a:t>&gt;</a:t>
            </a:r>
            <a:r>
              <a:rPr sz="950">
                <a:solidFill>
                  <a:srgbClr val="E2E8F0"/>
                </a:solidFill>
                <a:latin typeface="Consolas"/>
              </a:rPr>
              <a:t>str</a:t>
            </a:r>
            <a:r>
              <a:rPr sz="950">
                <a:solidFill>
                  <a:srgbClr val="E2E8F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to_encode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data</a:t>
            </a:r>
            <a:r>
              <a:rPr sz="950">
                <a:solidFill>
                  <a:srgbClr val="E2E8F0"/>
                </a:solidFill>
                <a:latin typeface="Consolas"/>
              </a:rPr>
              <a:t>.</a:t>
            </a:r>
            <a:r>
              <a:rPr sz="950">
                <a:solidFill>
                  <a:srgbClr val="67E8F9"/>
                </a:solidFill>
                <a:latin typeface="Consolas"/>
              </a:rPr>
              <a:t>copy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expire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datetime</a:t>
            </a:r>
            <a:r>
              <a:rPr sz="950">
                <a:solidFill>
                  <a:srgbClr val="E2E8F0"/>
                </a:solidFill>
                <a:latin typeface="Consolas"/>
              </a:rPr>
              <a:t>.</a:t>
            </a:r>
            <a:r>
              <a:rPr sz="950">
                <a:solidFill>
                  <a:srgbClr val="67E8F9"/>
                </a:solidFill>
                <a:latin typeface="Consolas"/>
              </a:rPr>
              <a:t>now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timezone</a:t>
            </a:r>
            <a:r>
              <a:rPr sz="950">
                <a:solidFill>
                  <a:srgbClr val="E2E8F0"/>
                </a:solidFill>
                <a:latin typeface="Consolas"/>
              </a:rPr>
              <a:t>.</a:t>
            </a:r>
            <a:r>
              <a:rPr sz="950">
                <a:solidFill>
                  <a:srgbClr val="E2E8F0"/>
                </a:solidFill>
                <a:latin typeface="Consolas"/>
              </a:rPr>
              <a:t>utc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  <a:r>
              <a:rPr sz="950">
                <a:solidFill>
                  <a:srgbClr val="E2E8F0"/>
                </a:solidFill>
                <a:latin typeface="Consolas"/>
              </a:rPr>
              <a:t>+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expires_delta</a:t>
            </a:r>
            <a:r>
              <a:rPr sz="950">
                <a:solidFill>
                  <a:srgbClr val="C792EA"/>
                </a:solidFill>
                <a:latin typeface="Consolas"/>
              </a:rPr>
              <a:t>or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67E8F9"/>
                </a:solidFill>
                <a:latin typeface="Consolas"/>
              </a:rPr>
              <a:t>timedelta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minutes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ACCESS_TOKEN_EXPIRE_MINUTES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to_encode</a:t>
            </a:r>
            <a:r>
              <a:rPr sz="950">
                <a:solidFill>
                  <a:srgbClr val="E2E8F0"/>
                </a:solidFill>
                <a:latin typeface="Consolas"/>
              </a:rPr>
              <a:t>.</a:t>
            </a:r>
            <a:r>
              <a:rPr sz="950">
                <a:solidFill>
                  <a:srgbClr val="67E8F9"/>
                </a:solidFill>
                <a:latin typeface="Consolas"/>
              </a:rPr>
              <a:t>update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{</a:t>
            </a:r>
            <a:r>
              <a:rPr sz="950">
                <a:solidFill>
                  <a:srgbClr val="FBBF24"/>
                </a:solidFill>
                <a:latin typeface="Consolas"/>
              </a:rPr>
              <a:t>"exp"</a:t>
            </a:r>
            <a:r>
              <a:rPr sz="950">
                <a:solidFill>
                  <a:srgbClr val="E2E8F0"/>
                </a:solidFill>
                <a:latin typeface="Consolas"/>
              </a:rPr>
              <a:t>:</a:t>
            </a:r>
            <a:r>
              <a:rPr sz="950">
                <a:solidFill>
                  <a:srgbClr val="E2E8F0"/>
                </a:solidFill>
                <a:latin typeface="Consolas"/>
              </a:rPr>
              <a:t>expire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FBBF24"/>
                </a:solidFill>
                <a:latin typeface="Consolas"/>
              </a:rPr>
              <a:t>"jti"</a:t>
            </a:r>
            <a:r>
              <a:rPr sz="950">
                <a:solidFill>
                  <a:srgbClr val="E2E8F0"/>
                </a:solidFill>
                <a:latin typeface="Consolas"/>
              </a:rPr>
              <a:t>:</a:t>
            </a:r>
            <a:r>
              <a:rPr sz="950">
                <a:solidFill>
                  <a:srgbClr val="67E8F9"/>
                </a:solidFill>
                <a:latin typeface="Consolas"/>
              </a:rPr>
              <a:t>generate_uuid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  <a:r>
              <a:rPr sz="950">
                <a:solidFill>
                  <a:srgbClr val="E2E8F0"/>
                </a:solidFill>
                <a:latin typeface="Consolas"/>
              </a:rPr>
              <a:t>}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C792EA"/>
                </a:solidFill>
                <a:latin typeface="Consolas"/>
              </a:rPr>
              <a:t>return</a:t>
            </a:r>
            <a:r>
              <a:rPr sz="950">
                <a:solidFill>
                  <a:srgbClr val="E2E8F0"/>
                </a:solidFill>
                <a:latin typeface="Consolas"/>
              </a:rPr>
              <a:t>jwt</a:t>
            </a:r>
            <a:r>
              <a:rPr sz="950">
                <a:solidFill>
                  <a:srgbClr val="E2E8F0"/>
                </a:solidFill>
                <a:latin typeface="Consolas"/>
              </a:rPr>
              <a:t>.</a:t>
            </a:r>
            <a:r>
              <a:rPr sz="950">
                <a:solidFill>
                  <a:srgbClr val="67E8F9"/>
                </a:solidFill>
                <a:latin typeface="Consolas"/>
              </a:rPr>
              <a:t>encode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to_encode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  <a:r>
              <a:rPr sz="950">
                <a:solidFill>
                  <a:srgbClr val="E2E8F0"/>
                </a:solidFill>
                <a:latin typeface="Consolas"/>
              </a:rPr>
              <a:t>SECRET_KEY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algorithm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ALGORITHM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6026" y="1783080"/>
            <a:ext cx="3539642" cy="4206240"/>
          </a:xfrm>
          <a:prstGeom prst="roundRect">
            <a:avLst>
              <a:gd name="adj" fmla="val 3500"/>
            </a:avLst>
          </a:prstGeom>
          <a:solidFill>
            <a:srgbClr val="0B1222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4314" y="1801368"/>
            <a:ext cx="3503066" cy="329184"/>
          </a:xfrm>
          <a:prstGeom prst="rect">
            <a:avLst/>
          </a:prstGeom>
          <a:solidFill>
            <a:srgbClr val="16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1474" y="1920240"/>
            <a:ext cx="91440" cy="914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3498" y="1828800"/>
            <a:ext cx="308244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onsolas"/>
              </a:rPr>
              <a:t>server.py · Dashboard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2240280"/>
            <a:ext cx="3210458" cy="36118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64748B"/>
                </a:solidFill>
                <a:latin typeface="Consolas"/>
              </a:rPr>
              <a:t># server.py — dashboard metrics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F472B6"/>
                </a:solidFill>
                <a:latin typeface="Consolas"/>
              </a:rPr>
              <a:t>@app</a:t>
            </a:r>
            <a:r>
              <a:rPr sz="950">
                <a:solidFill>
                  <a:srgbClr val="E2E8F0"/>
                </a:solidFill>
                <a:latin typeface="Consolas"/>
              </a:rPr>
              <a:t>.</a:t>
            </a:r>
            <a:r>
              <a:rPr sz="950">
                <a:solidFill>
                  <a:srgbClr val="67E8F9"/>
                </a:solidFill>
                <a:latin typeface="Consolas"/>
              </a:rPr>
              <a:t>get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FBBF24"/>
                </a:solidFill>
                <a:latin typeface="Consolas"/>
              </a:rPr>
              <a:t>"/api/dashboard/stats"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C792EA"/>
                </a:solidFill>
                <a:latin typeface="Consolas"/>
              </a:rPr>
              <a:t>def</a:t>
            </a:r>
            <a:r>
              <a:rPr sz="950">
                <a:solidFill>
                  <a:srgbClr val="67E8F9"/>
                </a:solidFill>
                <a:latin typeface="Consolas"/>
              </a:rPr>
              <a:t>dashboard_stats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payload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67E8F9"/>
                </a:solidFill>
                <a:latin typeface="Consolas"/>
              </a:rPr>
              <a:t>Depends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get_current_user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db</a:t>
            </a:r>
            <a:r>
              <a:rPr sz="950">
                <a:solidFill>
                  <a:srgbClr val="E2E8F0"/>
                </a:solidFill>
                <a:latin typeface="Consolas"/>
              </a:rPr>
              <a:t>:</a:t>
            </a:r>
            <a:r>
              <a:rPr sz="950">
                <a:solidFill>
                  <a:srgbClr val="E2E8F0"/>
                </a:solidFill>
                <a:latin typeface="Consolas"/>
              </a:rPr>
              <a:t>Session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67E8F9"/>
                </a:solidFill>
                <a:latin typeface="Consolas"/>
              </a:rPr>
              <a:t>Depends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get_db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  <a:r>
              <a:rPr sz="950">
                <a:solidFill>
                  <a:srgbClr val="E2E8F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user_id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payload</a:t>
            </a:r>
            <a:r>
              <a:rPr sz="950">
                <a:solidFill>
                  <a:srgbClr val="E2E8F0"/>
                </a:solidFill>
                <a:latin typeface="Consolas"/>
              </a:rPr>
              <a:t>[</a:t>
            </a:r>
            <a:r>
              <a:rPr sz="950">
                <a:solidFill>
                  <a:srgbClr val="FBBF24"/>
                </a:solidFill>
                <a:latin typeface="Consolas"/>
              </a:rPr>
              <a:t>"sub"</a:t>
            </a:r>
            <a:r>
              <a:rPr sz="950">
                <a:solidFill>
                  <a:srgbClr val="E2E8F0"/>
                </a:solidFill>
                <a:latin typeface="Consolas"/>
              </a:rPr>
              <a:t>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total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db</a:t>
            </a:r>
            <a:r>
              <a:rPr sz="950">
                <a:solidFill>
                  <a:srgbClr val="E2E8F0"/>
                </a:solidFill>
                <a:latin typeface="Consolas"/>
              </a:rPr>
              <a:t>.</a:t>
            </a:r>
            <a:r>
              <a:rPr sz="950">
                <a:solidFill>
                  <a:srgbClr val="67E8F9"/>
                </a:solidFill>
                <a:latin typeface="Consolas"/>
              </a:rPr>
              <a:t>query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Incident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  <a:r>
              <a:rPr sz="950">
                <a:solidFill>
                  <a:srgbClr val="E2E8F0"/>
                </a:solidFill>
                <a:latin typeface="Consolas"/>
              </a:rPr>
              <a:t>.</a:t>
            </a:r>
            <a:r>
              <a:rPr sz="950">
                <a:solidFill>
                  <a:srgbClr val="67E8F9"/>
                </a:solidFill>
                <a:latin typeface="Consolas"/>
              </a:rPr>
              <a:t>filter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Incident</a:t>
            </a:r>
            <a:r>
              <a:rPr sz="950">
                <a:solidFill>
                  <a:srgbClr val="E2E8F0"/>
                </a:solidFill>
                <a:latin typeface="Consolas"/>
              </a:rPr>
              <a:t>.</a:t>
            </a:r>
            <a:r>
              <a:rPr sz="950">
                <a:solidFill>
                  <a:srgbClr val="E2E8F0"/>
                </a:solidFill>
                <a:latin typeface="Consolas"/>
              </a:rPr>
              <a:t>user_id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user_id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  <a:r>
              <a:rPr sz="950">
                <a:solidFill>
                  <a:srgbClr val="E2E8F0"/>
                </a:solidFill>
                <a:latin typeface="Consolas"/>
              </a:rPr>
              <a:t>.</a:t>
            </a:r>
            <a:r>
              <a:rPr sz="950">
                <a:solidFill>
                  <a:srgbClr val="67E8F9"/>
                </a:solidFill>
                <a:latin typeface="Consolas"/>
              </a:rPr>
              <a:t>count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critical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db</a:t>
            </a:r>
            <a:r>
              <a:rPr sz="950">
                <a:solidFill>
                  <a:srgbClr val="E2E8F0"/>
                </a:solidFill>
                <a:latin typeface="Consolas"/>
              </a:rPr>
              <a:t>.</a:t>
            </a:r>
            <a:r>
              <a:rPr sz="950">
                <a:solidFill>
                  <a:srgbClr val="67E8F9"/>
                </a:solidFill>
                <a:latin typeface="Consolas"/>
              </a:rPr>
              <a:t>query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Incident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  <a:r>
              <a:rPr sz="950">
                <a:solidFill>
                  <a:srgbClr val="E2E8F0"/>
                </a:solidFill>
                <a:latin typeface="Consolas"/>
              </a:rPr>
              <a:t>.</a:t>
            </a:r>
            <a:r>
              <a:rPr sz="950">
                <a:solidFill>
                  <a:srgbClr val="67E8F9"/>
                </a:solidFill>
                <a:latin typeface="Consolas"/>
              </a:rPr>
              <a:t>filter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Incident</a:t>
            </a:r>
            <a:r>
              <a:rPr sz="950">
                <a:solidFill>
                  <a:srgbClr val="E2E8F0"/>
                </a:solidFill>
                <a:latin typeface="Consolas"/>
              </a:rPr>
              <a:t>.</a:t>
            </a:r>
            <a:r>
              <a:rPr sz="950">
                <a:solidFill>
                  <a:srgbClr val="E2E8F0"/>
                </a:solidFill>
                <a:latin typeface="Consolas"/>
              </a:rPr>
              <a:t>severity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FBBF24"/>
                </a:solidFill>
                <a:latin typeface="Consolas"/>
              </a:rPr>
              <a:t>"critical"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  <a:r>
              <a:rPr sz="950">
                <a:solidFill>
                  <a:srgbClr val="E2E8F0"/>
                </a:solidFill>
                <a:latin typeface="Consolas"/>
              </a:rPr>
              <a:t>.</a:t>
            </a:r>
            <a:r>
              <a:rPr sz="950">
                <a:solidFill>
                  <a:srgbClr val="67E8F9"/>
                </a:solidFill>
                <a:latin typeface="Consolas"/>
              </a:rPr>
              <a:t>count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C792EA"/>
                </a:solidFill>
                <a:latin typeface="Consolas"/>
              </a:rPr>
              <a:t>return</a:t>
            </a:r>
            <a:r>
              <a:rPr sz="950">
                <a:solidFill>
                  <a:srgbClr val="E2E8F0"/>
                </a:solidFill>
                <a:latin typeface="Consolas"/>
              </a:rPr>
              <a:t>{</a:t>
            </a:r>
            <a:r>
              <a:rPr sz="950">
                <a:solidFill>
                  <a:srgbClr val="FBBF24"/>
                </a:solidFill>
                <a:latin typeface="Consolas"/>
              </a:rPr>
              <a:t>"total_incidents"</a:t>
            </a:r>
            <a:r>
              <a:rPr sz="950">
                <a:solidFill>
                  <a:srgbClr val="E2E8F0"/>
                </a:solidFill>
                <a:latin typeface="Consolas"/>
              </a:rPr>
              <a:t>:</a:t>
            </a:r>
            <a:r>
              <a:rPr sz="950">
                <a:solidFill>
                  <a:srgbClr val="E2E8F0"/>
                </a:solidFill>
                <a:latin typeface="Consolas"/>
              </a:rPr>
              <a:t>total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FBBF24"/>
                </a:solidFill>
                <a:latin typeface="Consolas"/>
              </a:rPr>
              <a:t>"critical"</a:t>
            </a:r>
            <a:r>
              <a:rPr sz="950">
                <a:solidFill>
                  <a:srgbClr val="E2E8F0"/>
                </a:solidFill>
                <a:latin typeface="Consolas"/>
              </a:rPr>
              <a:t>:</a:t>
            </a:r>
            <a:r>
              <a:rPr sz="950">
                <a:solidFill>
                  <a:srgbClr val="E2E8F0"/>
                </a:solidFill>
                <a:latin typeface="Consolas"/>
              </a:rPr>
              <a:t>critical</a:t>
            </a:r>
            <a:r>
              <a:rPr sz="95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1972" y="1783080"/>
            <a:ext cx="3539642" cy="4206240"/>
          </a:xfrm>
          <a:prstGeom prst="roundRect">
            <a:avLst>
              <a:gd name="adj" fmla="val 3500"/>
            </a:avLst>
          </a:prstGeom>
          <a:solidFill>
            <a:srgbClr val="0B1222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0260" y="1801368"/>
            <a:ext cx="3503066" cy="329184"/>
          </a:xfrm>
          <a:prstGeom prst="rect">
            <a:avLst/>
          </a:prstGeom>
          <a:solidFill>
            <a:srgbClr val="1620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67420" y="1920240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9444" y="1828800"/>
            <a:ext cx="308244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onsolas"/>
              </a:rPr>
              <a:t>server.py · Live WebSocket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6564" y="2240280"/>
            <a:ext cx="3210458" cy="36118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64748B"/>
                </a:solidFill>
                <a:latin typeface="Consolas"/>
              </a:rPr>
              <a:t># server.py — real-time WebSocket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F472B6"/>
                </a:solidFill>
                <a:latin typeface="Consolas"/>
              </a:rPr>
              <a:t>@app</a:t>
            </a:r>
            <a:r>
              <a:rPr sz="950">
                <a:solidFill>
                  <a:srgbClr val="E2E8F0"/>
                </a:solidFill>
                <a:latin typeface="Consolas"/>
              </a:rPr>
              <a:t>.</a:t>
            </a:r>
            <a:r>
              <a:rPr sz="950">
                <a:solidFill>
                  <a:srgbClr val="67E8F9"/>
                </a:solidFill>
                <a:latin typeface="Consolas"/>
              </a:rPr>
              <a:t>websocket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FBBF24"/>
                </a:solidFill>
                <a:latin typeface="Consolas"/>
              </a:rPr>
              <a:t>"/ws"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C792EA"/>
                </a:solidFill>
                <a:latin typeface="Consolas"/>
              </a:rPr>
              <a:t>async</a:t>
            </a:r>
            <a:r>
              <a:rPr sz="950">
                <a:solidFill>
                  <a:srgbClr val="C792EA"/>
                </a:solidFill>
                <a:latin typeface="Consolas"/>
              </a:rPr>
              <a:t>def</a:t>
            </a:r>
            <a:r>
              <a:rPr sz="950">
                <a:solidFill>
                  <a:srgbClr val="67E8F9"/>
                </a:solidFill>
                <a:latin typeface="Consolas"/>
              </a:rPr>
              <a:t>websocket_endpoint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ws</a:t>
            </a:r>
            <a:r>
              <a:rPr sz="950">
                <a:solidFill>
                  <a:srgbClr val="E2E8F0"/>
                </a:solidFill>
                <a:latin typeface="Consolas"/>
              </a:rPr>
              <a:t>:</a:t>
            </a:r>
            <a:r>
              <a:rPr sz="950">
                <a:solidFill>
                  <a:srgbClr val="E2E8F0"/>
                </a:solidFill>
                <a:latin typeface="Consolas"/>
              </a:rPr>
              <a:t>WebSocket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  <a:r>
              <a:rPr sz="950">
                <a:solidFill>
                  <a:srgbClr val="E2E8F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C792EA"/>
                </a:solidFill>
                <a:latin typeface="Consolas"/>
              </a:rPr>
              <a:t>await</a:t>
            </a:r>
            <a:r>
              <a:rPr sz="950">
                <a:solidFill>
                  <a:srgbClr val="E2E8F0"/>
                </a:solidFill>
                <a:latin typeface="Consolas"/>
              </a:rPr>
              <a:t>ws</a:t>
            </a:r>
            <a:r>
              <a:rPr sz="950">
                <a:solidFill>
                  <a:srgbClr val="E2E8F0"/>
                </a:solidFill>
                <a:latin typeface="Consolas"/>
              </a:rPr>
              <a:t>.</a:t>
            </a:r>
            <a:r>
              <a:rPr sz="950">
                <a:solidFill>
                  <a:srgbClr val="67E8F9"/>
                </a:solidFill>
                <a:latin typeface="Consolas"/>
              </a:rPr>
              <a:t>accept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C792EA"/>
                </a:solidFill>
                <a:latin typeface="Consolas"/>
              </a:rPr>
              <a:t>await</a:t>
            </a:r>
            <a:r>
              <a:rPr sz="950">
                <a:solidFill>
                  <a:srgbClr val="E2E8F0"/>
                </a:solidFill>
                <a:latin typeface="Consolas"/>
              </a:rPr>
              <a:t>ws</a:t>
            </a:r>
            <a:r>
              <a:rPr sz="950">
                <a:solidFill>
                  <a:srgbClr val="E2E8F0"/>
                </a:solidFill>
                <a:latin typeface="Consolas"/>
              </a:rPr>
              <a:t>.</a:t>
            </a:r>
            <a:r>
              <a:rPr sz="950">
                <a:solidFill>
                  <a:srgbClr val="67E8F9"/>
                </a:solidFill>
                <a:latin typeface="Consolas"/>
              </a:rPr>
              <a:t>send_json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FBBF24"/>
                </a:solidFill>
                <a:latin typeface="Consolas"/>
              </a:rPr>
              <a:t>"type"</a:t>
            </a:r>
            <a:r>
              <a:rPr sz="950">
                <a:solidFill>
                  <a:srgbClr val="E2E8F0"/>
                </a:solidFill>
                <a:latin typeface="Consolas"/>
              </a:rPr>
              <a:t>:</a:t>
            </a:r>
            <a:r>
              <a:rPr sz="950">
                <a:solidFill>
                  <a:srgbClr val="FBBF24"/>
                </a:solidFill>
                <a:latin typeface="Consolas"/>
              </a:rPr>
              <a:t>"connected"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FBBF24"/>
                </a:solidFill>
                <a:latin typeface="Consolas"/>
              </a:rPr>
              <a:t>"message"</a:t>
            </a:r>
            <a:r>
              <a:rPr sz="950">
                <a:solidFill>
                  <a:srgbClr val="E2E8F0"/>
                </a:solidFill>
                <a:latin typeface="Consolas"/>
              </a:rPr>
              <a:t>:</a:t>
            </a:r>
            <a:r>
              <a:rPr sz="950">
                <a:solidFill>
                  <a:srgbClr val="FBBF24"/>
                </a:solidFill>
                <a:latin typeface="Consolas"/>
              </a:rPr>
              <a:t>"SentinalIQ live stream"</a:t>
            </a:r>
            <a:r>
              <a:rPr sz="950">
                <a:solidFill>
                  <a:srgbClr val="E2E8F0"/>
                </a:solidFill>
                <a:latin typeface="Consolas"/>
              </a:rPr>
              <a:t>}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C792EA"/>
                </a:solidFill>
                <a:latin typeface="Consolas"/>
              </a:rPr>
              <a:t>while</a:t>
            </a:r>
            <a:r>
              <a:rPr sz="950">
                <a:solidFill>
                  <a:srgbClr val="C792EA"/>
                </a:solidFill>
                <a:latin typeface="Consolas"/>
              </a:rPr>
              <a:t>True</a:t>
            </a:r>
            <a:r>
              <a:rPr sz="950">
                <a:solidFill>
                  <a:srgbClr val="E2E8F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2E8F0"/>
                </a:solidFill>
                <a:latin typeface="Consolas"/>
              </a:rPr>
              <a:t>data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C792EA"/>
                </a:solidFill>
                <a:latin typeface="Consolas"/>
              </a:rPr>
              <a:t>await</a:t>
            </a:r>
            <a:r>
              <a:rPr sz="950">
                <a:solidFill>
                  <a:srgbClr val="E2E8F0"/>
                </a:solidFill>
                <a:latin typeface="Consolas"/>
              </a:rPr>
              <a:t>ws</a:t>
            </a:r>
            <a:r>
              <a:rPr sz="950">
                <a:solidFill>
                  <a:srgbClr val="E2E8F0"/>
                </a:solidFill>
                <a:latin typeface="Consolas"/>
              </a:rPr>
              <a:t>.</a:t>
            </a:r>
            <a:r>
              <a:rPr sz="950">
                <a:solidFill>
                  <a:srgbClr val="67E8F9"/>
                </a:solidFill>
                <a:latin typeface="Consolas"/>
              </a:rPr>
              <a:t>receive_text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C792EA"/>
                </a:solidFill>
                <a:latin typeface="Consolas"/>
              </a:rPr>
              <a:t>if</a:t>
            </a:r>
            <a:r>
              <a:rPr sz="950">
                <a:solidFill>
                  <a:srgbClr val="E2E8F0"/>
                </a:solidFill>
                <a:latin typeface="Consolas"/>
              </a:rPr>
              <a:t>json</a:t>
            </a:r>
            <a:r>
              <a:rPr sz="950">
                <a:solidFill>
                  <a:srgbClr val="E2E8F0"/>
                </a:solidFill>
                <a:latin typeface="Consolas"/>
              </a:rPr>
              <a:t>.</a:t>
            </a:r>
            <a:r>
              <a:rPr sz="950">
                <a:solidFill>
                  <a:srgbClr val="67E8F9"/>
                </a:solidFill>
                <a:latin typeface="Consolas"/>
              </a:rPr>
              <a:t>loads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data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  <a:r>
              <a:rPr sz="950">
                <a:solidFill>
                  <a:srgbClr val="E2E8F0"/>
                </a:solidFill>
                <a:latin typeface="Consolas"/>
              </a:rPr>
              <a:t>.</a:t>
            </a:r>
            <a:r>
              <a:rPr sz="950">
                <a:solidFill>
                  <a:srgbClr val="67E8F9"/>
                </a:solidFill>
                <a:latin typeface="Consolas"/>
              </a:rPr>
              <a:t>get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FBBF24"/>
                </a:solidFill>
                <a:latin typeface="Consolas"/>
              </a:rPr>
              <a:t>"type"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FBBF24"/>
                </a:solidFill>
                <a:latin typeface="Consolas"/>
              </a:rPr>
              <a:t>"ping"</a:t>
            </a:r>
            <a:r>
              <a:rPr sz="950">
                <a:solidFill>
                  <a:srgbClr val="E2E8F0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C792EA"/>
                </a:solidFill>
                <a:latin typeface="Consolas"/>
              </a:rPr>
              <a:t>await</a:t>
            </a:r>
            <a:r>
              <a:rPr sz="950">
                <a:solidFill>
                  <a:srgbClr val="E2E8F0"/>
                </a:solidFill>
                <a:latin typeface="Consolas"/>
              </a:rPr>
              <a:t>ws</a:t>
            </a:r>
            <a:r>
              <a:rPr sz="950">
                <a:solidFill>
                  <a:srgbClr val="E2E8F0"/>
                </a:solidFill>
                <a:latin typeface="Consolas"/>
              </a:rPr>
              <a:t>.</a:t>
            </a:r>
            <a:r>
              <a:rPr sz="950">
                <a:solidFill>
                  <a:srgbClr val="67E8F9"/>
                </a:solidFill>
                <a:latin typeface="Consolas"/>
              </a:rPr>
              <a:t>send_json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{</a:t>
            </a:r>
            <a:r>
              <a:rPr sz="950">
                <a:solidFill>
                  <a:srgbClr val="FBBF24"/>
                </a:solidFill>
                <a:latin typeface="Consolas"/>
              </a:rPr>
              <a:t>"type"</a:t>
            </a:r>
            <a:r>
              <a:rPr sz="950">
                <a:solidFill>
                  <a:srgbClr val="E2E8F0"/>
                </a:solidFill>
                <a:latin typeface="Consolas"/>
              </a:rPr>
              <a:t>:</a:t>
            </a:r>
            <a:r>
              <a:rPr sz="950">
                <a:solidFill>
                  <a:srgbClr val="FBBF24"/>
                </a:solidFill>
                <a:latin typeface="Consolas"/>
              </a:rPr>
              <a:t>"pong"</a:t>
            </a:r>
            <a:r>
              <a:rPr sz="950">
                <a:solidFill>
                  <a:srgbClr val="E2E8F0"/>
                </a:solidFill>
                <a:latin typeface="Consolas"/>
              </a:rPr>
              <a:t>}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1722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Key implementation snippets from the SentinalIQ backend.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967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SentinalIQ · Enterprise SIEM / SOC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519672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300">
                <a:solidFill>
                  <a:srgbClr val="22D3EE"/>
                </a:solidFill>
                <a:latin typeface="Segoe UI"/>
              </a:rP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2E8F0"/>
                </a:solidFill>
                <a:latin typeface="Segoe UI"/>
              </a:rPr>
              <a:t>Where SentinalIQ Goes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26464"/>
            <a:ext cx="1051560" cy="5029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46039" cy="1261872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75104"/>
            <a:ext cx="48339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  <a:latin typeface="Segoe UI"/>
              </a:rPr>
              <a:t>AI / ML anomaly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40864"/>
            <a:ext cx="4833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4A3B8"/>
                </a:solidFill>
                <a:latin typeface="Segoe UI"/>
              </a:rPr>
              <a:t>Model-driven threat scoring and predictive alerts beyond rule-based engines.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5575" y="1828800"/>
            <a:ext cx="5346039" cy="1261872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975104"/>
            <a:ext cx="48339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  <a:latin typeface="Segoe UI"/>
              </a:rPr>
              <a:t>Cloud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340864"/>
            <a:ext cx="4833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4A3B8"/>
                </a:solidFill>
                <a:latin typeface="Segoe UI"/>
              </a:rPr>
              <a:t>Containerized Docker + Kubernetes rollout on AWS / Azure / GCP.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46120"/>
            <a:ext cx="5346039" cy="1261872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392424"/>
            <a:ext cx="48339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  <a:latin typeface="Segoe UI"/>
              </a:rPr>
              <a:t>Mobile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758183"/>
            <a:ext cx="4833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4A3B8"/>
                </a:solidFill>
                <a:latin typeface="Segoe UI"/>
              </a:rPr>
              <a:t>On-the-go SOC monitoring with push notifications.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5575" y="3246120"/>
            <a:ext cx="5346039" cy="1261872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1607" y="3392424"/>
            <a:ext cx="48339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  <a:latin typeface="Segoe UI"/>
              </a:rPr>
              <a:t>Third-party integrations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1607" y="3758183"/>
            <a:ext cx="4833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4A3B8"/>
                </a:solidFill>
                <a:latin typeface="Segoe UI"/>
              </a:rPr>
              <a:t>Connect external EDR, firewall, cloud and ticketing systems.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63440"/>
            <a:ext cx="5346039" cy="1261872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809744"/>
            <a:ext cx="48339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  <a:latin typeface="Segoe UI"/>
              </a:rPr>
              <a:t>Multi-tenant &amp; multi-language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175504"/>
            <a:ext cx="4833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4A3B8"/>
                </a:solidFill>
                <a:latin typeface="Segoe UI"/>
              </a:rPr>
              <a:t>SaaS-style tenant isolation and localized UI support.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5575" y="4663440"/>
            <a:ext cx="5346039" cy="1261872"/>
          </a:xfrm>
          <a:prstGeom prst="roundRect">
            <a:avLst>
              <a:gd name="adj" fmla="val 5000"/>
            </a:avLst>
          </a:prstGeom>
          <a:solidFill>
            <a:srgbClr val="111A2C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1607" y="4809744"/>
            <a:ext cx="48339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2E8F0"/>
                </a:solidFill>
                <a:latin typeface="Segoe UI"/>
              </a:rPr>
              <a:t>SOAR 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1607" y="5175504"/>
            <a:ext cx="483397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94A3B8"/>
                </a:solidFill>
                <a:latin typeface="Segoe UI"/>
              </a:rPr>
              <a:t>Automated playbooks that respond to incidents without human action.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519672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Segoe UI"/>
              </a:rPr>
              <a:t>SentinalIQ · Enterprise SIEM / SOC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519672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" y="0"/>
            <a:ext cx="82296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82296" cy="6858000"/>
          </a:xfrm>
          <a:prstGeom prst="rect">
            <a:avLst/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36015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400" b="1" i="0">
                <a:solidFill>
                  <a:srgbClr val="E2E8F0"/>
                </a:solidFill>
                <a:latin typeface="Segoe U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94A3B8"/>
                </a:solidFill>
                <a:latin typeface="Segoe UI"/>
              </a:rPr>
              <a:t>Questions are welcome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93208" y="3886200"/>
            <a:ext cx="2011680" cy="4572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3601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22D3EE"/>
                </a:solidFill>
                <a:latin typeface="Segoe UI"/>
              </a:rPr>
              <a:t>SentinalIQ — Enterprise SIEM / SOC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360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Segoe UI"/>
              </a:rPr>
              <a:t>School of Computing  ·  Sponsored by ASIA Charitable Trust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10360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 spc="250">
                <a:solidFill>
                  <a:srgbClr val="94A3B8"/>
                </a:solidFill>
                <a:latin typeface="Segoe UI"/>
              </a:rPr>
              <a:t>Tech Cast · Project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